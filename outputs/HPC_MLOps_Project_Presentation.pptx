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5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UEH_x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93192"/>
            <a:ext cx="78039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9AC6E5"/>
                </a:solidFill>
                <a:latin typeface="Arial"/>
              </a:defRPr>
            </a:pPr>
            <a:r>
              <a:t>ĐỒ ÁN TÍNH TOÁN HIỆU SUẤT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9344"/>
            <a:ext cx="7680960" cy="1325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Tối ưu triển khai mô hình phát hiện</a:t>
            </a:r>
            <a:br/>
            <a:r>
              <a:t>đối tượng thời gian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82112"/>
            <a:ext cx="8138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D8E7F3"/>
                </a:solidFill>
                <a:latin typeface="Arial"/>
              </a:defRPr>
            </a:pPr>
            <a:r>
              <a:t>Knowledge Distillation  |  ONNX / TensorRT  |  MLOps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3803904"/>
            <a:ext cx="6839711" cy="0"/>
          </a:xfrm>
          <a:prstGeom prst="line">
            <a:avLst/>
          </a:prstGeom>
          <a:ln w="15240">
            <a:solidFill>
              <a:srgbClr val="4A8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4133087"/>
            <a:ext cx="146304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Nhóm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80560"/>
            <a:ext cx="6217920" cy="8686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E0EAF2"/>
                </a:solidFill>
                <a:latin typeface="Arial"/>
              </a:defRPr>
            </a:pPr>
            <a:r>
              <a:t>Thái Hoài An (Nhóm trưởng)  |  Nguyễn Thị Thùy Dương</a:t>
            </a:r>
            <a:br/>
            <a:r>
              <a:t>Nguyễn Duy Tân  |  Lê Vy</a:t>
            </a:r>
            <a:br/>
            <a:r>
              <a:t>GVHD: TS.GVC Nguyễn Quốc Hùng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325880"/>
            <a:ext cx="2880360" cy="4352544"/>
          </a:xfrm>
          <a:prstGeom prst="roundRect">
            <a:avLst>
              <a:gd name="adj" fmla="val 12000"/>
            </a:avLst>
          </a:prstGeom>
          <a:solidFill>
            <a:srgbClr val="1B4467"/>
          </a:solidFill>
          <a:ln>
            <a:solidFill>
              <a:srgbClr val="2A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1645920"/>
            <a:ext cx="2331720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9FCCE7"/>
                </a:solidFill>
                <a:latin typeface="Arial"/>
              </a:defRPr>
            </a:pPr>
            <a:r>
              <a:t>KẾT QUẢ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2093976"/>
            <a:ext cx="2011680" cy="5669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543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7696" y="2715768"/>
            <a:ext cx="2267712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D2E4EE"/>
                </a:solidFill>
                <a:latin typeface="Arial"/>
              </a:defRPr>
            </a:pPr>
            <a:r>
              <a:t>FPS • TensorRT FP16 / Tesla 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3419856"/>
            <a:ext cx="2011680" cy="4754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3500" b="1">
                <a:solidFill>
                  <a:srgbClr val="FFFFFF"/>
                </a:solidFill>
                <a:latin typeface="Arial"/>
              </a:defRPr>
            </a:pPr>
            <a:r>
              <a:t>36x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3977639"/>
            <a:ext cx="228600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D2E4EE"/>
                </a:solidFill>
                <a:latin typeface="Arial"/>
              </a:defRPr>
            </a:pPr>
            <a:r>
              <a:t>nhanh hơn teacher PyTorch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4617720"/>
            <a:ext cx="210312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23.5x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5102352"/>
            <a:ext cx="2240280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D2E4EE"/>
                </a:solidFill>
                <a:latin typeface="Arial"/>
              </a:defRPr>
            </a:pPr>
            <a:r>
              <a:t>ít tham số hơn 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2CBDE"/>
                </a:solidFill>
                <a:latin typeface="Arial"/>
              </a:defRPr>
            </a:pPr>
            <a:r>
              <a:t>UEH • Tháng 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Detector thời gian thực cần đồng thời giữ chất lượng và giảm chi phí triển khai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Mục 1.2-1.3 và 4.5-4.7.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1554480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1408176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CÂU HỎI NGHIÊN CỨU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6537960" cy="78638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Một student nhỏ có thể kế thừa tri thức của teacher và đạt latency phù hợp phục vụ thời gian thực không?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825496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761488"/>
            <a:ext cx="317296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Chất lượng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44952"/>
            <a:ext cx="317296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So sánh baseline với student KD trên cùng val split và ba seed.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767328"/>
            <a:ext cx="73152" cy="73152"/>
          </a:xfrm>
          <a:prstGeom prst="roundRect">
            <a:avLst>
              <a:gd name="adj" fmla="val 12000"/>
            </a:avLst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703320"/>
            <a:ext cx="317296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Tốc độ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986783"/>
            <a:ext cx="317296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Benchmark PyTorch, ONNX Runtime và TensorRT FP16 trên cùng T4.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709160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645152"/>
            <a:ext cx="317296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Tái lập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928616"/>
            <a:ext cx="317296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Checksum artifact và stack Docker giúp kiểm chứng đường đi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234440"/>
            <a:ext cx="3977639" cy="4544568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1572768"/>
            <a:ext cx="3291840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667AB"/>
                </a:solidFill>
                <a:latin typeface="Arial"/>
              </a:defRPr>
            </a:pPr>
            <a:r>
              <a:t>CÂU TRẢ LỜI NGẮN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002536"/>
            <a:ext cx="2834640" cy="53035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3700" b="1">
                <a:solidFill>
                  <a:srgbClr val="143758"/>
                </a:solidFill>
                <a:latin typeface="Arial"/>
              </a:defRPr>
            </a:pPr>
            <a:r>
              <a:t>Có.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852928"/>
            <a:ext cx="3154680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E6B77"/>
                </a:solidFill>
                <a:latin typeface="Arial"/>
              </a:defRPr>
            </a:pPr>
            <a:r>
              <a:t>Student KD TensorRT đạt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3136392"/>
            <a:ext cx="3136392" cy="4206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7E87"/>
                </a:solidFill>
                <a:latin typeface="Arial"/>
              </a:defRPr>
            </a:pPr>
            <a:r>
              <a:t>1.84 ms / ảnh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3904487"/>
            <a:ext cx="3163824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E6B77"/>
                </a:solidFill>
                <a:latin typeface="Arial"/>
              </a:defRPr>
            </a:pPr>
            <a:r>
              <a:t>và mAP50-95 tăng trung bình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4224528"/>
            <a:ext cx="3246120" cy="40233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2C8652"/>
                </a:solidFill>
                <a:latin typeface="Arial"/>
              </a:defRPr>
            </a:pPr>
            <a:r>
              <a:t>+0.012 ± 0.005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136" y="4773168"/>
            <a:ext cx="3182112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so với baseline cùng seed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Pipeline khép kín nối huấn luyện, tối ưu inference và vận hành quan sát được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Hình 3.2; hình do nhóm tác giả xây dựng.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6" name="Picture 5" descr="ful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161288"/>
            <a:ext cx="10222992" cy="51839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" y="6144768"/>
            <a:ext cx="10771632" cy="292608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08776"/>
            <a:ext cx="10460736" cy="16459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Data &amp; train  →  teacher / student KD  →  export ONNX/TensorRT  →  FastAPI + Gradio  →  monitoring / drift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Thiết kế đo cố định giúp tách hiệu ứng KD khỏi nhiễu môi trường benchmark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Bảng 4.1-4.2 và Mục 4.2.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0432"/>
            <a:ext cx="859536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07008"/>
            <a:ext cx="713231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DỮ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4864" cy="960120"/>
          </a:xfrm>
          <a:prstGeom prst="rect">
            <a:avLst/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37360"/>
            <a:ext cx="17830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43758"/>
                </a:solidFill>
                <a:latin typeface="Arial"/>
              </a:defRPr>
            </a:pPr>
            <a: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85416"/>
            <a:ext cx="1783080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ảnh huấn luyện subset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60020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600200"/>
            <a:ext cx="54864" cy="960120"/>
          </a:xfrm>
          <a:prstGeom prst="rect">
            <a:avLst/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737360"/>
            <a:ext cx="17830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43758"/>
                </a:solidFill>
                <a:latin typeface="Arial"/>
              </a:defRPr>
            </a:pPr>
            <a:r>
              <a:t>262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185416"/>
            <a:ext cx="1783080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ảnh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60020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600200"/>
            <a:ext cx="54864" cy="960120"/>
          </a:xfrm>
          <a:prstGeom prst="rect">
            <a:avLst/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737360"/>
            <a:ext cx="17830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4375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185416"/>
            <a:ext cx="1783080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lớp giao thông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971800"/>
            <a:ext cx="1435608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008376"/>
            <a:ext cx="1289304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THIẾT KẾ SO SÁNH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01568"/>
            <a:ext cx="6537960" cy="2029968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75887"/>
            <a:ext cx="1115568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5E6B77"/>
                </a:solidFill>
                <a:latin typeface="Arial"/>
              </a:defRPr>
            </a:pPr>
            <a:r>
              <a:t>Teacher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59352"/>
            <a:ext cx="132588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43758"/>
                </a:solidFill>
                <a:latin typeface="Arial"/>
              </a:defRPr>
            </a:pPr>
            <a:r>
              <a:t>YOLO26x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06824"/>
            <a:ext cx="146304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58.82M tham số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3995928"/>
            <a:ext cx="329184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667A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675887"/>
            <a:ext cx="1225296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5E6B77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959352"/>
            <a:ext cx="1335024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43758"/>
                </a:solidFill>
                <a:latin typeface="Arial"/>
              </a:defRPr>
            </a:pPr>
            <a:r>
              <a:t>YOLO26n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306824"/>
            <a:ext cx="1243584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label gốc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032504"/>
            <a:ext cx="402336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E6B77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3675887"/>
            <a:ext cx="1389888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Student KD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59352"/>
            <a:ext cx="1353312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43758"/>
                </a:solidFill>
                <a:latin typeface="Arial"/>
              </a:defRPr>
            </a:pPr>
            <a:r>
              <a:t>YOLO26n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306824"/>
            <a:ext cx="155448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label + teacher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4919472"/>
            <a:ext cx="6016752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8652"/>
                </a:solidFill>
                <a:latin typeface="Arial"/>
              </a:defRPr>
            </a:pPr>
            <a:r>
              <a:t>Cùng kiến trúc student: khác biệt triển khai inference = 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4968" y="1170432"/>
            <a:ext cx="1508760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1207008"/>
            <a:ext cx="1362456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PROTOCOL LATENCY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1737360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6992" y="1673352"/>
            <a:ext cx="3218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Cùng phần cứng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1956816"/>
            <a:ext cx="3218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NVIDIA Tesla T4; batch = 1; imgsz = 640.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2688336"/>
            <a:ext cx="73152" cy="73152"/>
          </a:xfrm>
          <a:prstGeom prst="roundRect">
            <a:avLst>
              <a:gd name="adj" fmla="val 12000"/>
            </a:avLst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36992" y="2624328"/>
            <a:ext cx="3218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Warmup và lặp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2907792"/>
            <a:ext cx="3218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15 warmup; 100 lần đo; 50 ảnh val.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639312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36992" y="3575304"/>
            <a:ext cx="3218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Hai lớp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992" y="3858768"/>
            <a:ext cx="3218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Model-only và end-to-end; báo cáo mean + p95.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590288"/>
            <a:ext cx="73152" cy="73152"/>
          </a:xfrm>
          <a:prstGeom prst="roundRect">
            <a:avLst>
              <a:gd name="adj" fmla="val 12000"/>
            </a:avLst>
          </a:prstGeom>
          <a:solidFill>
            <a:srgbClr val="DE762D"/>
          </a:solidFill>
          <a:ln>
            <a:solidFill>
              <a:srgbClr val="DE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4526280"/>
            <a:ext cx="3218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4809744"/>
            <a:ext cx="3218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conf = 0.001; IoU = 0.7; ba seed cho KD.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KD đa thành phần cho student học cả biểu diễn và phản hồi phát hiện của teacher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Mục 2.4 và 3.4; Hinton et al. (2015); Yang et al. (2022).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170432"/>
            <a:ext cx="1572768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426464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TEACHER - 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4708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1627632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667AB"/>
                </a:solidFill>
                <a:latin typeface="Arial"/>
              </a:defRPr>
            </a:pPr>
            <a:r>
              <a:t>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13432"/>
            <a:ext cx="166420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43758"/>
                </a:solidFill>
                <a:latin typeface="Arial"/>
              </a:defRPr>
            </a:pPr>
            <a:r>
              <a:t>YOLO26x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895344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1627632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C8652"/>
                </a:solidFill>
                <a:latin typeface="Arial"/>
              </a:defRPr>
            </a:pPr>
            <a: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61688"/>
            <a:ext cx="166420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43758"/>
                </a:solidFill>
                <a:latin typeface="Arial"/>
              </a:defRPr>
            </a:pPr>
            <a:r>
              <a:t>YOLO26n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07792" y="2359152"/>
            <a:ext cx="914399" cy="0"/>
          </a:xfrm>
          <a:prstGeom prst="line">
            <a:avLst/>
          </a:prstGeom>
          <a:ln w="25400">
            <a:solidFill>
              <a:srgbClr val="266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07792" y="4416552"/>
            <a:ext cx="914399" cy="0"/>
          </a:xfrm>
          <a:prstGeom prst="line">
            <a:avLst/>
          </a:prstGeom>
          <a:ln w="25400">
            <a:solidFill>
              <a:srgbClr val="2C86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86200" y="1499616"/>
            <a:ext cx="3803904" cy="3776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1376" y="1773936"/>
            <a:ext cx="324612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TÍN HIỆU DISTILLATION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3087" y="2331720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267712"/>
            <a:ext cx="303580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Dense logits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551176"/>
            <a:ext cx="303580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KL trên toàn bộ 8,400 prediction points • w = 0.25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33087" y="3282696"/>
            <a:ext cx="73152" cy="73152"/>
          </a:xfrm>
          <a:prstGeom prst="roundRect">
            <a:avLst>
              <a:gd name="adj" fmla="val 12000"/>
            </a:avLst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218688"/>
            <a:ext cx="303580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Sparse logits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3502152"/>
            <a:ext cx="303580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Chỉ vùng teacher đủ tin cậy • w = 0.25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4233672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4169663"/>
            <a:ext cx="303580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Bounding boxes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453127"/>
            <a:ext cx="303580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Học localization từ teacher • w = 0.50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08392" y="3383280"/>
            <a:ext cx="612648" cy="0"/>
          </a:xfrm>
          <a:prstGeom prst="line">
            <a:avLst/>
          </a:prstGeom>
          <a:ln w="25400">
            <a:solidFill>
              <a:srgbClr val="DE7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1719072"/>
            <a:ext cx="3182112" cy="3355848"/>
          </a:xfrm>
          <a:prstGeom prst="roundRect">
            <a:avLst>
              <a:gd name="adj" fmla="val 12000"/>
            </a:avLst>
          </a:prstGeom>
          <a:solidFill>
            <a:srgbClr val="FCF3E8"/>
          </a:solidFill>
          <a:ln>
            <a:solidFill>
              <a:srgbClr val="FC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2002536"/>
            <a:ext cx="265176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DE762D"/>
                </a:solidFill>
                <a:latin typeface="Arial"/>
              </a:defRPr>
            </a:pPr>
            <a:r>
              <a:t>LOSS TỔNG HỢP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2560320"/>
            <a:ext cx="261518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43758"/>
                </a:solidFill>
                <a:latin typeface="Arial"/>
              </a:defRPr>
            </a:pPr>
            <a:r>
              <a:t>L = Ltask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2971800"/>
            <a:ext cx="2688336" cy="7315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43758"/>
                </a:solidFill>
                <a:latin typeface="Arial"/>
              </a:defRPr>
            </a:pPr>
            <a:r>
              <a:t>+ αfeat Lfeat</a:t>
            </a:r>
            <a:br/>
            <a:r>
              <a:t>+ αresp Lresp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7656" y="4242816"/>
            <a:ext cx="2642616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τ = 3.0  |  threshold = 0.3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" y="5696712"/>
            <a:ext cx="10853928" cy="384048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788152"/>
            <a:ext cx="1048816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KD chỉ tăng chi phí lúc train; kiến trúc và latency student khi deploy không đổi.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KD nâng mAP nhất quán qua ba seed dù Precision riêng lẻ không tăng ổn định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Bảng 4.3; mean ± std trên seed 42, 123, 456.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9576"/>
            <a:ext cx="2057400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16152"/>
            <a:ext cx="1911095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SO SÁNH APPLES-TO-APPLES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0876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E6B77"/>
                </a:solidFill>
                <a:latin typeface="Arial"/>
              </a:defRPr>
            </a:pPr>
            <a:r>
              <a:t>Student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773936"/>
            <a:ext cx="164592" cy="164592"/>
          </a:xfrm>
          <a:prstGeom prst="rect">
            <a:avLst/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719072"/>
            <a:ext cx="118872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E6B77"/>
                </a:solidFill>
                <a:latin typeface="Arial"/>
              </a:defRPr>
            </a:pPr>
            <a:r>
              <a:t>Student KD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773936"/>
            <a:ext cx="164592" cy="164592"/>
          </a:xfrm>
          <a:prstGeom prst="rect">
            <a:avLst/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632704"/>
            <a:ext cx="2066543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43758"/>
                </a:solidFill>
                <a:latin typeface="Arial"/>
              </a:defRPr>
            </a:pPr>
            <a:r>
              <a:t>mAP50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07592" y="2759339"/>
            <a:ext cx="621792" cy="2690484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21408" y="2710007"/>
            <a:ext cx="621792" cy="2739816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2485019"/>
            <a:ext cx="749808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0.709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435687"/>
            <a:ext cx="749808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8652"/>
                </a:solidFill>
                <a:latin typeface="Arial"/>
              </a:defRPr>
            </a:pPr>
            <a:r>
              <a:t>0.722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5" y="2322576"/>
            <a:ext cx="2084831" cy="347472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2414016"/>
            <a:ext cx="1947672" cy="17373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8652"/>
                </a:solidFill>
                <a:latin typeface="Arial"/>
              </a:defRPr>
            </a:pPr>
            <a:r>
              <a:t>+0.013 ± 0.006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5632704"/>
            <a:ext cx="2066543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43758"/>
                </a:solidFill>
                <a:latin typeface="Arial"/>
              </a:defRPr>
            </a:pPr>
            <a:r>
              <a:t>mAP50-95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0791" y="3639723"/>
            <a:ext cx="621792" cy="1810100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64608" y="3597981"/>
            <a:ext cx="621792" cy="185184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6784" y="3365403"/>
            <a:ext cx="749808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0.477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323661"/>
            <a:ext cx="749808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8652"/>
                </a:solidFill>
                <a:latin typeface="Arial"/>
              </a:defRPr>
            </a:pPr>
            <a:r>
              <a:t>0.488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5615" y="2322576"/>
            <a:ext cx="2084831" cy="347472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2414016"/>
            <a:ext cx="1947672" cy="17373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8652"/>
                </a:solidFill>
                <a:latin typeface="Arial"/>
              </a:defRPr>
            </a:pPr>
            <a:r>
              <a:t>+0.012 ± 0.005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7728" y="1426464"/>
            <a:ext cx="4480560" cy="4498848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624" y="1755648"/>
            <a:ext cx="3511296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667AB"/>
                </a:solidFill>
                <a:latin typeface="Arial"/>
              </a:defRPr>
            </a:pPr>
            <a:r>
              <a:t>ĐỌC KẾT QUẢ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8624" y="2276856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2212848"/>
            <a:ext cx="3419856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Tín hiệu có chiều dương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2496312"/>
            <a:ext cx="341985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mAP tăng ở cả hai thước đo và biến thiên thấp.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8624" y="3310127"/>
            <a:ext cx="73152" cy="73152"/>
          </a:xfrm>
          <a:prstGeom prst="roundRect">
            <a:avLst>
              <a:gd name="adj" fmla="val 12000"/>
            </a:avLst>
          </a:prstGeom>
          <a:solidFill>
            <a:srgbClr val="DE762D"/>
          </a:solidFill>
          <a:ln>
            <a:solidFill>
              <a:srgbClr val="DE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3216" y="3246120"/>
            <a:ext cx="3419856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Không tuyên bố quá mức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3529584"/>
            <a:ext cx="341985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Precision: -0.000 ± 0.025; không có xu hướng rõ.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78624" y="4343400"/>
            <a:ext cx="73152" cy="73152"/>
          </a:xfrm>
          <a:prstGeom prst="roundRect">
            <a:avLst>
              <a:gd name="adj" fmla="val 12000"/>
            </a:avLst>
          </a:prstGeom>
          <a:solidFill>
            <a:srgbClr val="BA3737"/>
          </a:solidFill>
          <a:ln>
            <a:solidFill>
              <a:srgbClr val="BA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6" y="4279392"/>
            <a:ext cx="3419856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Giới hạn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4562855"/>
            <a:ext cx="341985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Subset 1,000 ảnh; ba seed mới là kiểm tra ổn định ban đầu.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5440680"/>
            <a:ext cx="3611880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Teacher không đặt vào chart vì báo cáo ghi nhận val split tham chiếu đã được lấy mẫu lại.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Export TensorRT đổi giảm mAP nhỏ lấy mức tăng tốc triển khai đáng kể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Bảng 4.4 và 4.7; student KD trên cùng tập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9576"/>
            <a:ext cx="1664208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16152"/>
            <a:ext cx="1517904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VALIDATE SAU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8394192" cy="438912"/>
          </a:xfrm>
          <a:prstGeom prst="roundRect">
            <a:avLst>
              <a:gd name="adj" fmla="val 12000"/>
            </a:avLst>
          </a:prstGeom>
          <a:solidFill>
            <a:srgbClr val="143758"/>
          </a:solidFill>
          <a:ln>
            <a:solidFill>
              <a:srgbClr val="14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92807"/>
            <a:ext cx="212140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Định dạng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92807"/>
            <a:ext cx="123444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92807"/>
            <a:ext cx="128016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mAP50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892807"/>
            <a:ext cx="1426464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mAP50-95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892807"/>
            <a:ext cx="134416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86000"/>
            <a:ext cx="8394192" cy="521207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41448"/>
            <a:ext cx="212140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PyTorch FP32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41448"/>
            <a:ext cx="123444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5.14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41448"/>
            <a:ext cx="128016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0.730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441448"/>
            <a:ext cx="1426464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0.492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441448"/>
            <a:ext cx="134416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9.38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80360"/>
            <a:ext cx="8394192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035808"/>
            <a:ext cx="212140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ONNX FP32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035808"/>
            <a:ext cx="123444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9.35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35808"/>
            <a:ext cx="128016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0.711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035808"/>
            <a:ext cx="1426464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0.479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3035808"/>
            <a:ext cx="134416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22A33"/>
                </a:solidFill>
                <a:latin typeface="Arial"/>
              </a:defRPr>
            </a:pPr>
            <a:r>
              <a:t>5.11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74720"/>
            <a:ext cx="8394192" cy="521207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630168"/>
            <a:ext cx="212140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TensorRT FP16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630168"/>
            <a:ext cx="123444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6.84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630168"/>
            <a:ext cx="128016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0.711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3630168"/>
            <a:ext cx="1426464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0.479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630168"/>
            <a:ext cx="1344168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1.84 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89704"/>
            <a:ext cx="8394192" cy="1078992"/>
          </a:xfrm>
          <a:prstGeom prst="roundRect">
            <a:avLst>
              <a:gd name="adj" fmla="val 12000"/>
            </a:avLst>
          </a:prstGeom>
          <a:solidFill>
            <a:srgbClr val="FCF3E8"/>
          </a:solidFill>
          <a:ln>
            <a:solidFill>
              <a:srgbClr val="FC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736592"/>
            <a:ext cx="1554480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DE762D"/>
                </a:solidFill>
                <a:latin typeface="Arial"/>
              </a:defRPr>
            </a:pPr>
            <a:r>
              <a:t>Trade-off đo được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9192" y="4681728"/>
            <a:ext cx="6035040" cy="53035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43758"/>
                </a:solidFill>
                <a:latin typeface="Arial"/>
              </a:defRPr>
            </a:pPr>
            <a:r>
              <a:t>TensorRT mất 0.019 mAP50 / 0.013 mAP50-95 so với PyTorch KD,</a:t>
            </a:r>
            <a:br/>
            <a:r>
              <a:t>nhưng inference giảm từ 9.38 ms xuống 1.84 ms (xấp xỉ 5.1x).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1609344"/>
            <a:ext cx="2148840" cy="4069080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1920240"/>
            <a:ext cx="1700784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667AB"/>
                </a:solidFill>
                <a:latin typeface="Arial"/>
              </a:defRPr>
            </a:pPr>
            <a:r>
              <a:t>TENSORRT FP16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8" y="2468880"/>
            <a:ext cx="1728216" cy="6126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43758"/>
                </a:solidFill>
                <a:latin typeface="Arial"/>
              </a:defRPr>
            </a:pPr>
            <a:r>
              <a:t>543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127248"/>
            <a:ext cx="1554480" cy="2011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FPS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3840480"/>
            <a:ext cx="1728216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007E87"/>
                </a:solidFill>
                <a:latin typeface="Arial"/>
              </a:defRPr>
            </a:pPr>
            <a:r>
              <a:t>1.90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4242816"/>
            <a:ext cx="1554480" cy="2011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p95 latency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983480"/>
            <a:ext cx="1810512" cy="23774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6.84 MB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TensorRT FP16 giảm latency model-only 36x so với teacher trên cùng Tesla T4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Bảng 4.7. Warmup 15; 100 lần lặp; batch 1; 50 ảnh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179576"/>
            <a:ext cx="3401568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216152"/>
            <a:ext cx="3255264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INFERENCE MEAN (MS / ẢNH) - THẤP HƠN LÀ TỐT HƠN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184708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43758"/>
                </a:solidFill>
                <a:latin typeface="Arial"/>
              </a:defRPr>
            </a:pPr>
            <a:r>
              <a:t>Teacher • PyTorch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74519"/>
            <a:ext cx="6172200" cy="429768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874519"/>
            <a:ext cx="6172200" cy="429768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5128" y="1965960"/>
            <a:ext cx="713232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667AB"/>
                </a:solidFill>
                <a:latin typeface="Arial"/>
              </a:defRPr>
            </a:pPr>
            <a:r>
              <a:t>66.87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98064"/>
            <a:ext cx="184708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43758"/>
                </a:solidFill>
                <a:latin typeface="Arial"/>
              </a:defRPr>
            </a:pPr>
            <a:r>
              <a:t>Student KD • PyTorch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706624"/>
            <a:ext cx="6172200" cy="429768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706624"/>
            <a:ext cx="865787" cy="429768"/>
          </a:xfrm>
          <a:prstGeom prst="roundRect">
            <a:avLst>
              <a:gd name="adj" fmla="val 12000"/>
            </a:avLst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8715" y="2798064"/>
            <a:ext cx="713232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7E87"/>
                </a:solidFill>
                <a:latin typeface="Arial"/>
              </a:defRPr>
            </a:pPr>
            <a:r>
              <a:t>9.38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630168"/>
            <a:ext cx="184708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43758"/>
                </a:solidFill>
                <a:latin typeface="Arial"/>
              </a:defRPr>
            </a:pPr>
            <a:r>
              <a:t>Student KD • ONNX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538728"/>
            <a:ext cx="6172200" cy="429768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538728"/>
            <a:ext cx="471660" cy="429768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4588" y="3630168"/>
            <a:ext cx="713232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8652"/>
                </a:solidFill>
                <a:latin typeface="Arial"/>
              </a:defRPr>
            </a:pPr>
            <a:r>
              <a:t>5.11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1"/>
            <a:ext cx="184708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43758"/>
                </a:solidFill>
                <a:latin typeface="Arial"/>
              </a:defRPr>
            </a:pPr>
            <a:r>
              <a:t>Student KD • TensorRT FP16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370831"/>
            <a:ext cx="6172200" cy="429768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4370831"/>
            <a:ext cx="246888" cy="429768"/>
          </a:xfrm>
          <a:prstGeom prst="roundRect">
            <a:avLst>
              <a:gd name="adj" fmla="val 12000"/>
            </a:avLst>
          </a:prstGeom>
          <a:solidFill>
            <a:srgbClr val="DE762D"/>
          </a:solidFill>
          <a:ln>
            <a:solidFill>
              <a:srgbClr val="DE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9816" y="4462271"/>
            <a:ext cx="713232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DE762D"/>
                </a:solidFill>
                <a:latin typeface="Arial"/>
              </a:defRPr>
            </a:pPr>
            <a:r>
              <a:t>1.84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72768"/>
            <a:ext cx="2084831" cy="4123944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1856231"/>
            <a:ext cx="1664208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667AB"/>
                </a:solidFill>
                <a:latin typeface="Arial"/>
              </a:defRPr>
            </a:pPr>
            <a:r>
              <a:t>ĐIỂM NGHẼN MỚI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432304"/>
            <a:ext cx="1691640" cy="40233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143758"/>
                </a:solidFill>
                <a:latin typeface="Arial"/>
              </a:defRPr>
            </a:pPr>
            <a:r>
              <a:t>1.84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889504"/>
            <a:ext cx="1527048" cy="2011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502152"/>
            <a:ext cx="170992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DE762D"/>
                </a:solidFill>
                <a:latin typeface="Arial"/>
              </a:defRPr>
            </a:pPr>
            <a:r>
              <a:t>+ 1.75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6" y="3941063"/>
            <a:ext cx="1691640" cy="2011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pre/postprocess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4416552"/>
            <a:ext cx="1472184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756648" y="4663440"/>
            <a:ext cx="1664208" cy="6766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43758"/>
                </a:solidFill>
                <a:latin typeface="Arial"/>
              </a:defRPr>
            </a:pPr>
            <a:r>
              <a:t>Tối ưu tiếp theo:</a:t>
            </a:r>
            <a:br/>
            <a:r>
              <a:t>pre/postprocess GPU</a:t>
            </a:r>
            <a:br/>
            <a:r>
              <a:t>hoặc batching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623560"/>
            <a:ext cx="8183879" cy="365760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715000"/>
            <a:ext cx="7790688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8652"/>
                </a:solidFill>
                <a:latin typeface="Arial"/>
              </a:defRPr>
            </a:pPr>
            <a:r>
              <a:t>End-to-end TensorRT = 3.59 ms; model không còn là chi phí duy nhất cần tối ưu.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Docker Swarm: replicas, rolling update và self-heal cho serving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Mục 2.6.4 và 3.8; reports/swarm_evidence/.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1645920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1499616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MỤC ĐÍCH CHUYỂN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6675120" cy="1097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222A33"/>
                </a:solidFill>
                <a:latin typeface="Arial"/>
              </a:defRPr>
            </a:pPr>
            <a:r>
              <a:t>Compose thiếu replica chia tải, cập nhật không gián đoạn và tự phục hồi. Swarm bổ sung đúng ba thuộc tính này cho serving và monitoring trên cùng overlay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88920"/>
            <a:ext cx="65836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43758"/>
                </a:solidFill>
                <a:latin typeface="Arial"/>
              </a:defRPr>
            </a:pPr>
            <a:r>
              <a:t>Cấu hình deploy của mlops_api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54680"/>
            <a:ext cx="2103120" cy="365760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18688"/>
            <a:ext cx="193852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Consolas"/>
              </a:defRPr>
            </a:pPr>
            <a:r>
              <a:t>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218688"/>
            <a:ext cx="45262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3 baseline, scale động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93592"/>
            <a:ext cx="2103120" cy="365760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657600"/>
            <a:ext cx="193852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Consolas"/>
              </a:defRPr>
            </a:pPr>
            <a:r>
              <a:t>update_config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3657600"/>
            <a:ext cx="45262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parallelism=1, order=start-first, rollback nếu 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2504"/>
            <a:ext cx="2103120" cy="365760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096512"/>
            <a:ext cx="193852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Consolas"/>
              </a:defRPr>
            </a:pPr>
            <a:r>
              <a:t>restart_policy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4096512"/>
            <a:ext cx="45262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condition=any, delay=5s, max_attempts=3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71416"/>
            <a:ext cx="2103120" cy="365760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535424"/>
            <a:ext cx="193852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Consolas"/>
              </a:defRPr>
            </a:pPr>
            <a:r>
              <a:t>resources.limits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4535424"/>
            <a:ext cx="45262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cpus=2.0, memory=3G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0328"/>
            <a:ext cx="2103120" cy="365760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974336"/>
            <a:ext cx="1938528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Consolas"/>
              </a:defRPr>
            </a:pPr>
            <a:r>
              <a:t>Prometheus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974336"/>
            <a:ext cx="45262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dns_sd_configs với tasks.api, không cần host.docker.internal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170432"/>
            <a:ext cx="4023360" cy="265176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1207008"/>
            <a:ext cx="3877056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2C8652"/>
                </a:solidFill>
                <a:latin typeface="Arial"/>
              </a:defRPr>
            </a:pPr>
            <a:r>
              <a:t>BỐN PHÉP VERIFY TRÊN CLUSTER 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1627632"/>
            <a:ext cx="4206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627632"/>
            <a:ext cx="54864" cy="960120"/>
          </a:xfrm>
          <a:prstGeom prst="rect">
            <a:avLst/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1746504"/>
            <a:ext cx="15544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43758"/>
                </a:solidFill>
                <a:latin typeface="Arial"/>
              </a:defRPr>
            </a:pPr>
            <a:r>
              <a:t>13/13/13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2221992"/>
            <a:ext cx="39319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Load balancing qua VIP tasks.api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2706624"/>
            <a:ext cx="4206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79" y="2706624"/>
            <a:ext cx="54864" cy="960120"/>
          </a:xfrm>
          <a:prstGeom prst="rect">
            <a:avLst/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2825496"/>
            <a:ext cx="15544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43758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3300984"/>
            <a:ext cx="39319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Downtime trong 58 probe rolling update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785615"/>
            <a:ext cx="4206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79" y="3785615"/>
            <a:ext cx="54864" cy="960120"/>
          </a:xfrm>
          <a:prstGeom prst="rect">
            <a:avLst/>
          </a:prstGeom>
          <a:solidFill>
            <a:srgbClr val="DE762D"/>
          </a:solidFill>
          <a:ln>
            <a:solidFill>
              <a:srgbClr val="DE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3904487"/>
            <a:ext cx="15544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43758"/>
                </a:solidFill>
                <a:latin typeface="Arial"/>
              </a:defRPr>
            </a:pPr>
            <a:r>
              <a:t>61s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4379976"/>
            <a:ext cx="39319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Self-heal sau kill (Mac LinuxKit; &lt;10s Linux native)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4864608"/>
            <a:ext cx="4206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79" y="4864608"/>
            <a:ext cx="54864" cy="960120"/>
          </a:xfrm>
          <a:prstGeom prst="rect">
            <a:avLst/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2672" y="4983480"/>
            <a:ext cx="15544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43758"/>
                </a:solidFill>
                <a:latin typeface="Arial"/>
              </a:defRPr>
            </a:pPr>
            <a:r>
              <a:t>3 →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2672" y="5458968"/>
            <a:ext cx="39319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Prometheus tự nhận target mới &lt;30s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Artifact student KD đi đến API demo có thể kiểm chứng bằng provenance và output trực quan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Hình 3.5 và 4.3; artifact/model do nhóm tác giả tạo.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6" name="Picture 5" descr="qualitativ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7008"/>
            <a:ext cx="7827264" cy="2698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74920"/>
            <a:ext cx="7827264" cy="603504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276088"/>
            <a:ext cx="735177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C8652"/>
                </a:solidFill>
                <a:latin typeface="Arial"/>
              </a:defRPr>
            </a:pPr>
            <a:r>
              <a:t>Ví dụ val: prediction student KD phát hiện đủ 7 đối tượng, FP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50808" y="1216152"/>
            <a:ext cx="2834640" cy="4462272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1508760"/>
            <a:ext cx="22860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667AB"/>
                </a:solidFill>
                <a:latin typeface="Arial"/>
              </a:defRPr>
            </a:pPr>
            <a:r>
              <a:t>TỪ MODEL ĐẾN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2020824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1956816"/>
            <a:ext cx="2075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Artifact đúng nguồn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240280"/>
            <a:ext cx="2075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serving_model.pt = student_kd_best.pt (SHA1).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3026664"/>
            <a:ext cx="73152" cy="73152"/>
          </a:xfrm>
          <a:prstGeom prst="roundRect">
            <a:avLst>
              <a:gd name="adj" fmla="val 12000"/>
            </a:avLst>
          </a:prstGeom>
          <a:solidFill>
            <a:srgbClr val="007E87"/>
          </a:solidFill>
          <a:ln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962656"/>
            <a:ext cx="2075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Serving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3246120"/>
            <a:ext cx="2075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FastAPI /detect trả box, lớp, confidence, latency.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4032504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3968496"/>
            <a:ext cx="20756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Tương tác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4251959"/>
            <a:ext cx="20756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Gradio tải ảnh, hiển thị bounding boxes.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5221224"/>
            <a:ext cx="2276856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E6B77"/>
                </a:solidFill>
                <a:latin typeface="Arial"/>
              </a:defRPr>
            </a:pPr>
            <a:r>
              <a:t>Monitoring: /metrics → Prometheus / Grafana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Failure analysis và phát hiện ngược kỳ vọng từ INT8 quantization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Nguồn: Báo cáo, Mục 4.4 (Bảng 4.5 INT8) và Mục 4.6.4 (Failure cases).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2834640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2688336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HAI MÔ-TÍP THẤT BẠI NỔI BẬT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6766560" cy="6766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222A33"/>
                </a:solidFill>
                <a:latin typeface="Arial"/>
              </a:defRPr>
            </a:pPr>
            <a:r>
              <a:t>Năm ảnh val có recall = 0 chia thành hai nhóm rõ rệt; đây là đầu vào trực tiếp cho hướng cải tiến dữ liệu và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6766560" cy="1280160"/>
          </a:xfrm>
          <a:prstGeom prst="roundRect">
            <a:avLst>
              <a:gd name="adj" fmla="val 12000"/>
            </a:avLst>
          </a:prstGeom>
          <a:solidFill>
            <a:srgbClr val="FCF3E8"/>
          </a:solidFill>
          <a:ln>
            <a:solidFill>
              <a:srgbClr val="FC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73152" cy="1280160"/>
          </a:xfrm>
          <a:prstGeom prst="rect">
            <a:avLst/>
          </a:prstGeom>
          <a:solidFill>
            <a:srgbClr val="DE762D"/>
          </a:solidFill>
          <a:ln>
            <a:solidFill>
              <a:srgbClr val="DE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1005840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DE762D"/>
                </a:solidFill>
                <a:latin typeface="Arial"/>
              </a:defRPr>
            </a:pPr>
            <a:r>
              <a:t>Mô-típ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23160"/>
            <a:ext cx="52120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Ảnh ngoài phân phối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64465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Re-encoding PNG→JPG nhiều bước hoặc screenshot; ba ảnh recall = 0 đều thuộc nhóm này.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49039"/>
            <a:ext cx="6766560" cy="1280160"/>
          </a:xfrm>
          <a:prstGeom prst="roundRect">
            <a:avLst>
              <a:gd name="adj" fmla="val 12000"/>
            </a:avLst>
          </a:prstGeom>
          <a:solidFill>
            <a:srgbClr val="FCF3E8"/>
          </a:solidFill>
          <a:ln>
            <a:solidFill>
              <a:srgbClr val="FC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49039"/>
            <a:ext cx="73152" cy="1280160"/>
          </a:xfrm>
          <a:prstGeom prst="rect">
            <a:avLst/>
          </a:prstGeom>
          <a:solidFill>
            <a:srgbClr val="DE762D"/>
          </a:solidFill>
          <a:ln>
            <a:solidFill>
              <a:srgbClr val="DE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58768"/>
            <a:ext cx="1005840" cy="2560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DE762D"/>
                </a:solidFill>
                <a:latin typeface="Arial"/>
              </a:defRPr>
            </a:pPr>
            <a:r>
              <a:t>Mô-típ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40479"/>
            <a:ext cx="52120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Ảnh đông đối tượng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644652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26-33 ground truth trên một ảnh; NMS bỏ sót 20/26 và 26/33 do số prediction point chất lượng cao không đủ cho mật độ đối tượng.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85232"/>
            <a:ext cx="6766560" cy="32918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Cải tiến: augmentation về biến dạng JPEG và tile inference cho ảnh đông đối tượng.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170432"/>
            <a:ext cx="4023360" cy="265176"/>
          </a:xfrm>
          <a:prstGeom prst="roundRect">
            <a:avLst>
              <a:gd name="adj" fmla="val 12000"/>
            </a:avLst>
          </a:prstGeom>
          <a:solidFill>
            <a:srgbClr val="FCF3E8"/>
          </a:solidFill>
          <a:ln>
            <a:solidFill>
              <a:srgbClr val="FC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207008"/>
            <a:ext cx="3877056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A3737"/>
                </a:solidFill>
                <a:latin typeface="Arial"/>
              </a:defRPr>
            </a:pPr>
            <a:r>
              <a:t>INT8: PHÁT HIỆN NGƯỢC KỲ VỌNG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627632"/>
            <a:ext cx="420624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1755648"/>
            <a:ext cx="395020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A3737"/>
                </a:solidFill>
                <a:latin typeface="Arial"/>
              </a:defRPr>
            </a:pPr>
            <a:r>
              <a:t>Latency thay vì giảm thì TĂNG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2402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CPU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2240280"/>
            <a:ext cx="7772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71.75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240280"/>
            <a:ext cx="2743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40280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A3737"/>
                </a:solidFill>
                <a:latin typeface="Arial"/>
              </a:defRPr>
            </a:pPr>
            <a:r>
              <a:t>505.36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74320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GPU T4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2743200"/>
            <a:ext cx="7772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5.93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743200"/>
            <a:ext cx="2743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743200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A3737"/>
                </a:solidFill>
                <a:latin typeface="Arial"/>
              </a:defRPr>
            </a:pPr>
            <a:r>
              <a:t>500.26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24612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Dung lượng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3246120"/>
            <a:ext cx="7772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9.35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246120"/>
            <a:ext cx="2743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246120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22A33"/>
                </a:solidFill>
                <a:latin typeface="Arial"/>
              </a:defRPr>
            </a:pPr>
            <a:r>
              <a:t>2.74 MB (-71%)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74904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43758"/>
                </a:solidFill>
                <a:latin typeface="Arial"/>
              </a:defRPr>
            </a:pPr>
            <a:r>
              <a:t>mAP50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6528" y="3749040"/>
            <a:ext cx="77724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0.527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749040"/>
            <a:ext cx="2743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749040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22A33"/>
                </a:solidFill>
                <a:latin typeface="Arial"/>
              </a:defRPr>
            </a:pPr>
            <a:r>
              <a:t>0.520 (-0.7 pt)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4383" y="4370832"/>
            <a:ext cx="3986784" cy="8686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E6B77"/>
                </a:solidFill>
                <a:latin typeface="Arial"/>
              </a:defRPr>
            </a:pPr>
            <a:r>
              <a:t>Nguyên nhân: dynamic quantization của ONNX Runtime quantize/dequantize mỗi forward pass; operator INT8 cho detection chưa có kernel đầy đủ, fallback FP32 kèm overhead chuyển định dạng. Hướng đúng là static post-training quantization với calibration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8521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43758"/>
                </a:solidFill>
                <a:latin typeface="Arial"/>
              </a:defRPr>
            </a:pPr>
            <a:r>
              <a:t>Tài liệu tham khảo và nguồn bằng chứng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41832"/>
            <a:ext cx="11185855" cy="0"/>
          </a:xfrm>
          <a:prstGeom prst="line">
            <a:avLst/>
          </a:prstGeom>
          <a:ln w="1524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56248"/>
            <a:ext cx="10241280" cy="1828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E6B77"/>
                </a:solidFill>
                <a:latin typeface="Arial"/>
              </a:defRPr>
            </a:pPr>
            <a:r>
              <a:t>Nguồn đầy đủ và URL: outputs/final_report.tex, mục Tài liệu tham khảo.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537960"/>
            <a:ext cx="42062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4375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1883664" cy="265176"/>
          </a:xfrm>
          <a:prstGeom prst="roundRect">
            <a:avLst>
              <a:gd name="adj" fmla="val 12000"/>
            </a:avLst>
          </a:prstGeom>
          <a:solidFill>
            <a:srgbClr val="ECF4FB"/>
          </a:solidFill>
          <a:ln>
            <a:solidFill>
              <a:srgbClr val="EC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737360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43758"/>
                </a:solidFill>
                <a:latin typeface="Arial"/>
              </a:defRPr>
            </a:pPr>
            <a:r>
              <a:t>PHƯƠNG PHÁP VÀ MÔ HÌNH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64792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00784"/>
            <a:ext cx="50474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84248"/>
            <a:ext cx="50474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Hinton, Vinyals &amp; Dean (2015). Distilling the Knowledge in a Neural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15184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51176"/>
            <a:ext cx="50474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34640"/>
            <a:ext cx="50474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Yang et al. (2022). Focal and Global Knowledge Distillation for Detectors. CVPR.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65576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401568"/>
            <a:ext cx="50474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685032"/>
            <a:ext cx="50474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Wang et al. (2019). Distilling Object Detectors With Fine-Grained Feature Imitation.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15968"/>
            <a:ext cx="73152" cy="73152"/>
          </a:xfrm>
          <a:prstGeom prst="roundRect">
            <a:avLst>
              <a:gd name="adj" fmla="val 12000"/>
            </a:avLst>
          </a:prstGeom>
          <a:solidFill>
            <a:srgbClr val="2667AB"/>
          </a:solidFill>
          <a:ln>
            <a:solidFill>
              <a:srgbClr val="26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51960"/>
            <a:ext cx="504748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35424"/>
            <a:ext cx="504748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Ultralytics. YOLO Documentation and Model Export Documentation.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188720"/>
            <a:ext cx="2231136" cy="265176"/>
          </a:xfrm>
          <a:prstGeom prst="roundRect">
            <a:avLst>
              <a:gd name="adj" fmla="val 12000"/>
            </a:avLst>
          </a:prstGeom>
          <a:solidFill>
            <a:srgbClr val="EBF7EF"/>
          </a:solidFill>
          <a:ln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25296"/>
            <a:ext cx="2084831" cy="1920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2C8652"/>
                </a:solidFill>
                <a:latin typeface="Arial"/>
              </a:defRPr>
            </a:pPr>
            <a:r>
              <a:t>DỮ LIỆU VÀ ARTIFACT CỦA NHÓM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1764792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1700784"/>
            <a:ext cx="468172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1984248"/>
            <a:ext cx="468172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Kaggle: Traffic Detection Project; 5 lớp; YOLO annotation format.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2615184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2551176"/>
            <a:ext cx="468172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2834640"/>
            <a:ext cx="468172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outputs/final_report.tex: Bảng 4.1-4.7, protocol và kết luận.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3465576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3401568"/>
            <a:ext cx="468172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3685032"/>
            <a:ext cx="468172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reports/p1/seed_results.csv; reports/p1/format_validation.csv.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4315968"/>
            <a:ext cx="73152" cy="73152"/>
          </a:xfrm>
          <a:prstGeom prst="roundRect">
            <a:avLst>
              <a:gd name="adj" fmla="val 12000"/>
            </a:avLst>
          </a:prstGeom>
          <a:solidFill>
            <a:srgbClr val="2C8652"/>
          </a:solidFill>
          <a:ln>
            <a:solidFill>
              <a:srgbClr val="2C8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8544" y="4251960"/>
            <a:ext cx="4681728" cy="2468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375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544" y="4535424"/>
            <a:ext cx="4681728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E6B77"/>
                </a:solidFill>
                <a:latin typeface="Arial"/>
              </a:defRPr>
            </a:pPr>
            <a:r>
              <a:t>reports/benchmark/latency.csv; model_artifacts/* checksum manifest.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753344" cy="512064"/>
          </a:xfrm>
          <a:prstGeom prst="roundRect">
            <a:avLst>
              <a:gd name="adj" fmla="val 12000"/>
            </a:avLst>
          </a:prstGeom>
          <a:solidFill>
            <a:srgbClr val="FCF3E8"/>
          </a:solidFill>
          <a:ln>
            <a:solidFill>
              <a:srgbClr val="FC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724144"/>
            <a:ext cx="10305288" cy="2011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DE762D"/>
                </a:solidFill>
                <a:latin typeface="Arial"/>
              </a:defRPr>
            </a:pPr>
            <a:r>
              <a:t>Lưu ý đọc kết quả: so sánh KD chính dùng paired difference qua ba seed; không suy rộng từ một lần chạy riêng lẻ.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38912"/>
            <a:ext cx="320040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51560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D8E7F3"/>
                </a:solidFill>
                <a:latin typeface="Arial"/>
              </a:defRPr>
            </a:pPr>
            <a:r>
              <a:t>Pipeline đã chứng minh được tính khả thi ở cả chất lượng, tốc độ và vận hành.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337560" cy="1938528"/>
          </a:xfrm>
          <a:prstGeom prst="roundRect">
            <a:avLst>
              <a:gd name="adj" fmla="val 12000"/>
            </a:avLst>
          </a:prstGeom>
          <a:solidFill>
            <a:srgbClr val="1B4467"/>
          </a:solidFill>
          <a:ln>
            <a:solidFill>
              <a:srgbClr val="305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167128"/>
            <a:ext cx="493776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7BC1D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2203704"/>
            <a:ext cx="2240280" cy="26517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Student gọn hơn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06624"/>
            <a:ext cx="2852928" cy="72237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D7E4EE"/>
                </a:solidFill>
                <a:latin typeface="Arial"/>
              </a:defRPr>
            </a:pPr>
            <a:r>
              <a:t>YOLO26n nhỏ hơn teacher 23.5x về tham số; phù hợp triển khai.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37560" cy="1938528"/>
          </a:xfrm>
          <a:prstGeom prst="roundRect">
            <a:avLst>
              <a:gd name="adj" fmla="val 12000"/>
            </a:avLst>
          </a:prstGeom>
          <a:solidFill>
            <a:srgbClr val="1B4467"/>
          </a:solidFill>
          <a:ln>
            <a:solidFill>
              <a:srgbClr val="305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167128"/>
            <a:ext cx="493776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7BC1D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203704"/>
            <a:ext cx="2240280" cy="26517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KD cải thiện ổn định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706624"/>
            <a:ext cx="2852928" cy="72237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D7E4EE"/>
                </a:solidFill>
                <a:latin typeface="Arial"/>
              </a:defRPr>
            </a:pPr>
            <a:r>
              <a:t>mAP50-95 tăng +0.012 ± 0.005 qua ba seed, không tăng latency.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920240"/>
            <a:ext cx="3337560" cy="1938528"/>
          </a:xfrm>
          <a:prstGeom prst="roundRect">
            <a:avLst>
              <a:gd name="adj" fmla="val 12000"/>
            </a:avLst>
          </a:prstGeom>
          <a:solidFill>
            <a:srgbClr val="1B4467"/>
          </a:solidFill>
          <a:ln>
            <a:solidFill>
              <a:srgbClr val="305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167128"/>
            <a:ext cx="493776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7BC1D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203704"/>
            <a:ext cx="2240280" cy="26517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TensorRT mở khoá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706624"/>
            <a:ext cx="2852928" cy="72237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D7E4EE"/>
                </a:solidFill>
                <a:latin typeface="Arial"/>
              </a:defRPr>
            </a:pPr>
            <a:r>
              <a:t>1.84 ms / ảnh, 543 FPS, p95 1.90 ms trên Tesla T4.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443984"/>
            <a:ext cx="1920240" cy="21945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86C3DC"/>
                </a:solidFill>
                <a:latin typeface="Arial"/>
              </a:defRPr>
            </a:pPr>
            <a:r>
              <a:t>BƯỚC TIẾP THEO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855464"/>
            <a:ext cx="1068019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Mở rộng full dataset và ≥5 seed  |  tối ưu pre/postprocess  |  đánh giá video/RTSP và CI/CD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5696712"/>
            <a:ext cx="10872216" cy="438912"/>
          </a:xfrm>
          <a:prstGeom prst="roundRect">
            <a:avLst>
              <a:gd name="adj" fmla="val 12000"/>
            </a:avLst>
          </a:prstGeom>
          <a:solidFill>
            <a:srgbClr val="173F60"/>
          </a:solidFill>
          <a:ln>
            <a:solidFill>
              <a:srgbClr val="17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833872"/>
            <a:ext cx="10341864" cy="2103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CBDEEB"/>
                </a:solidFill>
                <a:latin typeface="Arial"/>
              </a:defRPr>
            </a:pPr>
            <a:r>
              <a:t>Nhóm 1 • UEH • Tính toán hiệu suất cao • Tháng 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Toi uu trien khai mo hinh phat hien doi tuong thoi gian thuc</dc:title>
  <dc:subject>HPC MLOps - presentation based on final_report</dc:subject>
  <dc:creator>Nhom 1 - UEH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